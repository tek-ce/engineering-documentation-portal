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365945"/>
            <a:ext cx="2792016" cy="274290"/>
          </a:xfrm>
          <a:prstGeom prst="roundRect">
            <a:avLst>
              <a:gd name="adj" fmla="val 69452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3095"/>
            <a:ext cx="2536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WHITE &amp; BUILD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983135"/>
            <a:ext cx="237058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5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TeaChain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381000" y="2575471"/>
            <a:ext cx="4731297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Aft>
                <a:spcPts val="1800"/>
              </a:spcAft>
              <a:buNone/>
            </a:pPr>
            <a:r>
              <a:rPr lang="en-US" sz="1650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Value Chain Platform for</a:t>
            </a:r>
            <a:endParaRPr lang="en-US" sz="1650" dirty="0"/>
          </a:p>
          <a:p>
            <a:pPr algn="l" indent="0" marL="0">
              <a:lnSpc>
                <a:spcPts val="2145"/>
              </a:lnSpc>
              <a:spcAft>
                <a:spcPts val="1800"/>
              </a:spcAft>
              <a:buNone/>
            </a:pPr>
            <a:r>
              <a:rPr lang="en-US" sz="1650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Smallholder Farmers &amp; Factories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00050" y="3577382"/>
            <a:ext cx="0" cy="200025"/>
          </a:xfrm>
          <a:prstGeom prst="line">
            <a:avLst/>
          </a:prstGeom>
          <a:noFill/>
          <a:ln w="38100">
            <a:solidFill>
              <a:srgbClr val="D4A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3577382"/>
            <a:ext cx="45369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data. Verified income. Financial inclusion.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552926" y="0"/>
            <a:ext cx="3591074" cy="51435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0" y="571500"/>
            <a:ext cx="1143000" cy="1143000"/>
          </a:xfrm>
          <a:prstGeom prst="roundRect">
            <a:avLst>
              <a:gd name="adj" fmla="val 80000"/>
            </a:avLst>
          </a:prstGeom>
          <a:noFill/>
          <a:ln w="28575">
            <a:solidFill>
              <a:srgbClr val="D4A3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0" y="95250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D4A373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0" y="3048000"/>
            <a:ext cx="952500" cy="952500"/>
          </a:xfrm>
          <a:prstGeom prst="roundRect">
            <a:avLst>
              <a:gd name="adj" fmla="val 96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72139" y="1750814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D4A373"/>
          </a:solidFill>
          <a:ln/>
          <a:effectLst>
            <a:outerShdw sx="100000" sy="100000" kx="0" ky="0" algn="bl" rotWithShape="0" blurRad="3048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57381" y="1907084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30694" y="3008114"/>
            <a:ext cx="123553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1.8M+ Smallholder</a:t>
            </a:r>
            <a:endParaRPr lang="en-US" sz="975" dirty="0"/>
          </a:p>
          <a:p>
            <a:pPr algn="ctr" indent="0" marL="0">
              <a:lnSpc>
                <a:spcPts val="136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 Farmers in Kenya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4762500"/>
            <a:ext cx="20715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 • FinTech • Agricultural Innovation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947297" y="4762500"/>
            <a:ext cx="1852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AWS • OpenAI • Google Cloud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"/>
            <a:ext cx="9144000" cy="43815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476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328886"/>
            <a:ext cx="3634680" cy="1409700"/>
          </a:xfrm>
          <a:prstGeom prst="roundRect">
            <a:avLst>
              <a:gd name="adj" fmla="val 5405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519386"/>
            <a:ext cx="331875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Smallholder tea farmers in Kenya lack access to transparent production records, accurate payment tracking, and data-driven decision tools.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3081486"/>
            <a:ext cx="1760190" cy="862757"/>
          </a:xfrm>
          <a:prstGeom prst="roundRect">
            <a:avLst>
              <a:gd name="adj" fmla="val 6624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8846" y="3233886"/>
            <a:ext cx="148449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18846" y="3645247"/>
            <a:ext cx="14844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 on paper receipts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255490" y="3081486"/>
            <a:ext cx="1760190" cy="862757"/>
          </a:xfrm>
          <a:prstGeom prst="roundRect">
            <a:avLst>
              <a:gd name="adj" fmla="val 6624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93336" y="3233886"/>
            <a:ext cx="148449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393336" y="3645247"/>
            <a:ext cx="14844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payment disputes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400050" y="4249043"/>
            <a:ext cx="0" cy="346472"/>
          </a:xfrm>
          <a:prstGeom prst="line">
            <a:avLst/>
          </a:prstGeom>
          <a:noFill/>
          <a:ln w="38100">
            <a:solidFill>
              <a:srgbClr val="D4A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4249043"/>
            <a:ext cx="355192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reliable data, farmers cannot plan, cannot prove income, and cannot access credit.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20480" y="1223218"/>
            <a:ext cx="45313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20480" y="1600349"/>
            <a:ext cx="4442520" cy="689521"/>
          </a:xfrm>
          <a:prstGeom prst="roundRect">
            <a:avLst>
              <a:gd name="adj" fmla="val 11051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91930" y="1752749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56373" y="1804243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49130" y="1752749"/>
            <a:ext cx="25211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Record-Keeping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49130" y="1977479"/>
            <a:ext cx="2521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logs, no standardization between factories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20480" y="2404170"/>
            <a:ext cx="4442520" cy="689521"/>
          </a:xfrm>
          <a:prstGeom prst="roundRect">
            <a:avLst>
              <a:gd name="adj" fmla="val 11051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91930" y="255657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56373" y="2608064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49130" y="2556570"/>
            <a:ext cx="26696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49130" y="2781300"/>
            <a:ext cx="2669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cannot verify deliveries or track deductions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20480" y="3207990"/>
            <a:ext cx="4442520" cy="689521"/>
          </a:xfrm>
          <a:prstGeom prst="roundRect">
            <a:avLst>
              <a:gd name="adj" fmla="val 11051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91930" y="336039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56373" y="341188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49130" y="3360390"/>
            <a:ext cx="26763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Field-Level Analytics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49130" y="3585121"/>
            <a:ext cx="26763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track productivity or optimize inputs per field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20480" y="4011811"/>
            <a:ext cx="4442520" cy="689521"/>
          </a:xfrm>
          <a:prstGeom prst="roundRect">
            <a:avLst>
              <a:gd name="adj" fmla="val 11051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91930" y="4164211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56373" y="421570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949130" y="4164211"/>
            <a:ext cx="25855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Exclusion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49130" y="4388941"/>
            <a:ext cx="2585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verifiable income history for loans or insurance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1000" y="4781550"/>
            <a:ext cx="2266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affected: Nyeri, Kericho, Nandi, Bomet, Kisii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"/>
            <a:ext cx="9144000" cy="43815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476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71575" y="990600"/>
            <a:ext cx="68008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digital platform</a:t>
            </a:r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improves transparency and efficiency by connecting farmers and factories through </a:t>
            </a:r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verifiable data</a:t>
            </a:r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75" dirty="0"/>
          </a:p>
        </p:txBody>
      </p:sp>
      <p:pic>
        <p:nvPicPr>
          <p:cNvPr id="5" name="Image 0" descr="/tmp/rasterized-gradient-bee69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68053"/>
            <a:ext cx="4048125" cy="2973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67125" y="1377553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179665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88330" y="1859459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👨‍🌾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43000" y="1872853"/>
            <a:ext cx="1392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Module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9600" y="2520553"/>
            <a:ext cx="3662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Mobile/web dashboard for smallholders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609600" y="2998589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16620" y="2998589"/>
            <a:ext cx="24921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fields &amp; track production by location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609600" y="3280470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16620" y="3280470"/>
            <a:ext cx="22300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deliveries across multiple factories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609600" y="3562350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16620" y="3562350"/>
            <a:ext cx="2302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payments &amp; transport deductions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609600" y="3844230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6620" y="3844230"/>
            <a:ext cx="22556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input costs to measure profitability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09600" y="4126111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6620" y="4126111"/>
            <a:ext cx="21972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verifiable income history for credit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657725" y="1539478"/>
            <a:ext cx="4105275" cy="3030438"/>
          </a:xfrm>
          <a:prstGeom prst="roundRect">
            <a:avLst>
              <a:gd name="adj" fmla="val 3772"/>
            </a:avLst>
          </a:prstGeom>
          <a:solidFill>
            <a:srgbClr val="FFFFFF"/>
          </a:solidFill>
          <a:ln w="2857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972425" y="1377553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1B4332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14900" y="179665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93630" y="1859459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448300" y="1872853"/>
            <a:ext cx="14359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Module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914900" y="2520553"/>
            <a:ext cx="3662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system for tea processors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4914900" y="2998589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121920" y="2998589"/>
            <a:ext cx="22228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farmers, routes, tractors &amp; staff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4914900" y="3280470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121920" y="3280470"/>
            <a:ext cx="2330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 collection with real-time weigh-ins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4914900" y="3562350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121920" y="3562350"/>
            <a:ext cx="22325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monthly payment calculations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4914900" y="3844230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121920" y="3844230"/>
            <a:ext cx="18653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input vs output efficiency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4914900" y="4126111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121920" y="4126111"/>
            <a:ext cx="22395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verified data to farmer dashboards</a:t>
            </a:r>
            <a:endParaRPr lang="en-US" sz="975" dirty="0"/>
          </a:p>
        </p:txBody>
      </p:sp>
      <p:sp>
        <p:nvSpPr>
          <p:cNvPr id="37" name="Text 34"/>
          <p:cNvSpPr/>
          <p:nvPr/>
        </p:nvSpPr>
        <p:spPr>
          <a:xfrm>
            <a:off x="381000" y="4594920"/>
            <a:ext cx="8382000" cy="453330"/>
          </a:xfrm>
          <a:prstGeom prst="roundRect">
            <a:avLst>
              <a:gd name="adj" fmla="val 16809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91490" y="472827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Hybrid Adoption Model: Farmers benefit even if factories haven't onboarded yet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 from field to payment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125736"/>
            <a:ext cx="1470720" cy="3031034"/>
          </a:xfrm>
          <a:prstGeom prst="roundRect">
            <a:avLst>
              <a:gd name="adj" fmla="val 5181"/>
            </a:avLst>
          </a:prstGeom>
          <a:solidFill>
            <a:srgbClr val="FEF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6810" y="184874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4524" y="184874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75531" y="2305943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3117" y="2835473"/>
            <a:ext cx="5959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7629" y="3185964"/>
            <a:ext cx="12669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registers fields and links to factory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31146" y="253454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61270" y="1125736"/>
            <a:ext cx="1470720" cy="3031034"/>
          </a:xfrm>
          <a:prstGeom prst="roundRect">
            <a:avLst>
              <a:gd name="adj" fmla="val 5181"/>
            </a:avLst>
          </a:prstGeom>
          <a:solidFill>
            <a:srgbClr val="FEF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82329" y="184874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80043" y="184874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050" y="2305943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21257" y="2835473"/>
            <a:ext cx="5505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3148" y="3185964"/>
            <a:ext cx="12669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records weigh-ins on route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06665" y="253454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6789" y="1125736"/>
            <a:ext cx="1470720" cy="3031034"/>
          </a:xfrm>
          <a:prstGeom prst="roundRect">
            <a:avLst>
              <a:gd name="adj" fmla="val 5181"/>
            </a:avLst>
          </a:prstGeom>
          <a:solidFill>
            <a:srgbClr val="FEF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57849" y="19106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55563" y="1910655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26570" y="236785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10173" y="2897386"/>
            <a:ext cx="3239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56431" y="3247876"/>
            <a:ext cx="12312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syncs to cloud instantly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82185" y="253454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12309" y="1125736"/>
            <a:ext cx="1470720" cy="3031034"/>
          </a:xfrm>
          <a:prstGeom prst="roundRect">
            <a:avLst>
              <a:gd name="adj" fmla="val 5181"/>
            </a:avLst>
          </a:prstGeom>
          <a:solidFill>
            <a:srgbClr val="FEF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33368" y="19106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31082" y="1910655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2089" y="236785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77609" y="2897386"/>
            <a:ext cx="5399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93926" y="3247876"/>
            <a:ext cx="9073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insights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157704" y="253454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87828" y="1125736"/>
            <a:ext cx="1470720" cy="3031034"/>
          </a:xfrm>
          <a:prstGeom prst="roundRect">
            <a:avLst>
              <a:gd name="adj" fmla="val 5181"/>
            </a:avLst>
          </a:prstGeom>
          <a:solidFill>
            <a:srgbClr val="FEF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008888" y="19106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006602" y="1910655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77609" y="236785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012978" y="2897386"/>
            <a:ext cx="2204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8931" y="3247876"/>
            <a:ext cx="9685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payments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4594920"/>
            <a:ext cx="9144000" cy="45333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26306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68896" y="4748213"/>
            <a:ext cx="7562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3153370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95960" y="4748213"/>
            <a:ext cx="73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Capable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359301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01891" y="4748213"/>
            <a:ext cx="594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Data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7427416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670006" y="4748213"/>
            <a:ext cx="558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"/>
            <a:ext cx="9144000" cy="43815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476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9764"/>
            <a:ext cx="2667000" cy="326499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17931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2159" y="1274564"/>
            <a:ext cx="442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2050" y="1301204"/>
            <a:ext cx="16558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0550" y="1941314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90550" y="2335560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4850" y="2430810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(PostgreSQL)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850" y="261937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data store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0550" y="2924175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3019425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850" y="3207990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sync processing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0550" y="3512790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850" y="3608040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850" y="379660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and reports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38500" y="969764"/>
            <a:ext cx="2667000" cy="326499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48050" y="117931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0A3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57736" y="1274564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19550" y="1301204"/>
            <a:ext cx="5527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48050" y="1941314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INSIGHTS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448050" y="2335560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62350" y="2430810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2350" y="261937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trend insights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48050" y="2924175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62350" y="3019425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2350" y="3207990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summaries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48050" y="3512790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62350" y="3608040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Alerts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62350" y="379660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Underperforming field warnings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96000" y="969764"/>
            <a:ext cx="2667000" cy="326499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05550" y="117931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15236" y="1274564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77050" y="1301204"/>
            <a:ext cx="10189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5550" y="1941314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305550" y="2335560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19850" y="2430810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19850" y="261937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05550" y="2924175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419850" y="3019425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API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19850" y="3207990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visualization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05550" y="3512790"/>
            <a:ext cx="2247900" cy="512415"/>
          </a:xfrm>
          <a:prstGeom prst="roundRect">
            <a:avLst>
              <a:gd name="adj" fmla="val 11153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419850" y="3608040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Messaging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19850" y="379660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0" y="4613970"/>
            <a:ext cx="9144000" cy="41523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45741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888331" y="4748213"/>
            <a:ext cx="1051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3300264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542854" y="4748213"/>
            <a:ext cx="8672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design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4774109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16698" y="4748213"/>
            <a:ext cx="1092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architecture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6469261" y="472827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711851" y="4748213"/>
            <a:ext cx="802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globally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76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Benefits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measurable value across the tea value chain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200596"/>
            <a:ext cx="2667000" cy="2694682"/>
          </a:xfrm>
          <a:prstGeom prst="roundRect">
            <a:avLst>
              <a:gd name="adj" fmla="val 428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91096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230" y="1453902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1480691"/>
            <a:ext cx="11660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5788" y="1962596"/>
            <a:ext cx="0" cy="504527"/>
          </a:xfrm>
          <a:prstGeom prst="line">
            <a:avLst/>
          </a:prstGeom>
          <a:noFill/>
          <a:ln w="28575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375" y="1962596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Productivity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14375" y="2173932"/>
            <a:ext cx="218598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farm management increases yields by identifying underperforming fields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585788" y="2581424"/>
            <a:ext cx="0" cy="504527"/>
          </a:xfrm>
          <a:prstGeom prst="line">
            <a:avLst/>
          </a:prstGeom>
          <a:noFill/>
          <a:ln w="28575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375" y="2581424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Losses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14375" y="2792760"/>
            <a:ext cx="218598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logistics coordination minimizes post-harvest losses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585788" y="3200251"/>
            <a:ext cx="0" cy="504527"/>
          </a:xfrm>
          <a:prstGeom prst="line">
            <a:avLst/>
          </a:prstGeom>
          <a:noFill/>
          <a:ln w="28575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375" y="3200251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Awareness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14375" y="3411587"/>
            <a:ext cx="218598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inputs encourages sustainable farming practices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238500" y="1273820"/>
            <a:ext cx="2667000" cy="2548086"/>
          </a:xfrm>
          <a:prstGeom prst="roundRect">
            <a:avLst>
              <a:gd name="adj" fmla="val 4486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29000" y="146432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07730" y="152712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962400" y="1553914"/>
            <a:ext cx="157421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Inclusion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43288" y="2035820"/>
            <a:ext cx="0" cy="504527"/>
          </a:xfrm>
          <a:prstGeom prst="line">
            <a:avLst/>
          </a:prstGeom>
          <a:noFill/>
          <a:ln w="28575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1875" y="2035820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571875" y="2247156"/>
            <a:ext cx="218598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D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income history enables loan eligibility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3443288" y="2654647"/>
            <a:ext cx="0" cy="357932"/>
          </a:xfrm>
          <a:prstGeom prst="line">
            <a:avLst/>
          </a:prstGeom>
          <a:noFill/>
          <a:ln w="28575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1875" y="2654647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Transparency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3571875" y="2865983"/>
            <a:ext cx="21859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D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reconciliation eliminates disputes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3443288" y="3126879"/>
            <a:ext cx="0" cy="504527"/>
          </a:xfrm>
          <a:prstGeom prst="line">
            <a:avLst/>
          </a:prstGeom>
          <a:noFill/>
          <a:ln w="28575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1875" y="3126879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SACCO Integration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3571875" y="3338215"/>
            <a:ext cx="218598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D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connection to savings and lending institutions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096000" y="1347192"/>
            <a:ext cx="2667000" cy="2401491"/>
          </a:xfrm>
          <a:prstGeom prst="roundRect">
            <a:avLst>
              <a:gd name="adj" fmla="val 476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86500" y="153769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65230" y="1600498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819900" y="1627287"/>
            <a:ext cx="86513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00788" y="2109192"/>
            <a:ext cx="0" cy="504527"/>
          </a:xfrm>
          <a:prstGeom prst="line">
            <a:avLst/>
          </a:prstGeom>
          <a:noFill/>
          <a:ln w="28575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9375" y="2109192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6429375" y="2320528"/>
            <a:ext cx="218598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across all tea-growing counties in Kenya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300788" y="2728020"/>
            <a:ext cx="0" cy="357932"/>
          </a:xfrm>
          <a:prstGeom prst="line">
            <a:avLst/>
          </a:prstGeom>
          <a:noFill/>
          <a:ln w="28575">
            <a:solidFill>
              <a:srgbClr val="4091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9375" y="2728020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Multi-Crop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6429375" y="2939355"/>
            <a:ext cx="21859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platform for coffee, dairy, horticulture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6300788" y="3200251"/>
            <a:ext cx="0" cy="357932"/>
          </a:xfrm>
          <a:prstGeom prst="line">
            <a:avLst/>
          </a:prstGeom>
          <a:noFill/>
          <a:ln w="28575">
            <a:solidFill>
              <a:srgbClr val="4091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9375" y="3200251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Ready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6429375" y="3411587"/>
            <a:ext cx="21859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for cooperatives and agribusinesses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0" y="4318695"/>
            <a:ext cx="9144000" cy="59620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00806" y="4413945"/>
            <a:ext cx="599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00806" y="4699695"/>
            <a:ext cx="5997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Farmers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3293936" y="4413945"/>
            <a:ext cx="463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293936" y="4699695"/>
            <a:ext cx="4633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350946" y="4413945"/>
            <a:ext cx="5638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350946" y="4699695"/>
            <a:ext cx="563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Accuracy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7507751" y="4413945"/>
            <a:ext cx="5346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507751" y="4699695"/>
            <a:ext cx="5346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Access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"/>
            <a:ext cx="9144000" cy="43815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476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Execution Plan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15103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5443" y="1202531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9150" y="1215777"/>
            <a:ext cx="11921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1-Day Prototype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798737"/>
            <a:ext cx="407670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195113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004417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951137"/>
            <a:ext cx="32906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Collection Interface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14400" y="2162473"/>
            <a:ext cx="3290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enters farmer code, records multiple weigh-ins, calculates totals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556718"/>
            <a:ext cx="407670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270911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4901" y="276239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709118"/>
            <a:ext cx="275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Dashboard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14400" y="2920454"/>
            <a:ext cx="275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delivery totals, calculated payments, field summaries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3314700"/>
            <a:ext cx="407670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34671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352038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467100"/>
            <a:ext cx="28692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Sync Demo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14400" y="3678436"/>
            <a:ext cx="28692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sync between factory and farmer using sample datasets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1000" y="4072682"/>
            <a:ext cx="407670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 w="19050">
            <a:solidFill>
              <a:srgbClr val="CCD5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3400" y="422508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4901" y="427836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225082"/>
            <a:ext cx="27684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 Widget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14400" y="4436418"/>
            <a:ext cx="27684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OpenAI-generated recommendations from production data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86300" y="98405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0743" y="1035546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124450" y="1048792"/>
            <a:ext cx="15632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Post-Hackathon Pilot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86300" y="1631752"/>
            <a:ext cx="4076700" cy="630436"/>
          </a:xfrm>
          <a:prstGeom prst="roundRect">
            <a:avLst>
              <a:gd name="adj" fmla="val 12087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19650" y="1765102"/>
            <a:ext cx="14964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Pilot (1-3 months)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19650" y="198224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with 1 factory + 50 farmers, collect real data, iterate based on feedback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86300" y="2357438"/>
            <a:ext cx="4076700" cy="630436"/>
          </a:xfrm>
          <a:prstGeom prst="roundRect">
            <a:avLst>
              <a:gd name="adj" fmla="val 12087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9650" y="2490788"/>
            <a:ext cx="15485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Scale (3-6 months)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9650" y="270792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Multi-factory support, mobile app release, SACCO integrations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686300" y="3083123"/>
            <a:ext cx="4076700" cy="630436"/>
          </a:xfrm>
          <a:prstGeom prst="roundRect">
            <a:avLst>
              <a:gd name="adj" fmla="val 12087"/>
            </a:avLst>
          </a:prstGeom>
          <a:solidFill>
            <a:srgbClr val="E9E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19650" y="3216473"/>
            <a:ext cx="172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Expand (6-12 months)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19650" y="343361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regions, adapt for coffee/dairy, advanced analytics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686300" y="3980259"/>
            <a:ext cx="4076700" cy="921990"/>
          </a:xfrm>
          <a:prstGeom prst="roundRect">
            <a:avLst>
              <a:gd name="adj" fmla="val 8265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19650" y="4113609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TEAM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1000" y="4762500"/>
            <a:ext cx="3223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6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datasets ready: farmers, factories, routes, deliveries, monthly rates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24288" y="557361"/>
            <a:ext cx="1495276" cy="260896"/>
          </a:xfrm>
          <a:prstGeom prst="roundRect">
            <a:avLst>
              <a:gd name="adj" fmla="val 73018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64783" y="614511"/>
            <a:ext cx="12142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337286" y="1123057"/>
            <a:ext cx="4469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1.8 Million Smallholder Tea Farmers with Data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917848" y="1923157"/>
            <a:ext cx="53081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U.S. cloud and AI technologies to solve a real Kenyan agricultural challenge.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11173" y="2490788"/>
            <a:ext cx="6544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11173" y="2867918"/>
            <a:ext cx="6544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7772" y="2490788"/>
            <a:ext cx="102149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7772" y="2867918"/>
            <a:ext cx="10214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Sound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13213" y="2490788"/>
            <a:ext cx="4731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13213" y="2867918"/>
            <a:ext cx="473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99188" y="2490788"/>
            <a:ext cx="11383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9188" y="2867918"/>
            <a:ext cx="11383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Commercially Viable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96629" y="3408908"/>
            <a:ext cx="3550741" cy="761851"/>
          </a:xfrm>
          <a:prstGeom prst="roundRect">
            <a:avLst>
              <a:gd name="adj" fmla="val 12502"/>
            </a:avLst>
          </a:prstGeom>
          <a:solidFill>
            <a:srgbClr val="D4A3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49742" y="3561308"/>
            <a:ext cx="28445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TeaChain Together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49742" y="3858369"/>
            <a:ext cx="2844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D2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data • Verified income • Financial inclusion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455682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4540" y="4570065"/>
            <a:ext cx="481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69807" y="4583460"/>
            <a:ext cx="15230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White &amp; Build Hackathon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8</Slides>
	<Notes>8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8</vt:i4></vt:variant>
		</vt:vector>
	</HeadingPairs>
	<TitlesOfParts>
		<vt:vector size="11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
		</vt:vector>
	</TitlesOfParts>
	<Company>Red White & Build Hackathon 2026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TeaChain - Smart Tea Value Chain Platform</dc:title>
  <dc:subject>Hackathon Pitch Deck</dc:subject>
  <dc:creator>TeaChain Team</dc:creator>
  <cp:lastModifiedBy>TeaChain Team</cp:lastModifiedBy>
  <cp:revision>1</cp:revision>
  <dcterms:created xsi:type="dcterms:W3CDTF">2026-01-09T20:25:26Z</dcterms:created>
  <dcterms:modified xsi:type="dcterms:W3CDTF">2026-01-09T20:25:26Z</dcterms:modified>
</cp:coreProperties>
</file>